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e317e17e24561" /><Relationship Type="http://schemas.openxmlformats.org/officeDocument/2006/relationships/extended-properties" Target="/docProps/app.xml" Id="R06c5987df9f94ae3" /><Relationship Type="http://schemas.openxmlformats.org/officeDocument/2006/relationships/officeDocument" Target="/ppt/presentation.xml" Id="R4b62a93987f6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22f7cfbf84779"/>
  </p:sldMasterIdLst>
  <p:notesMasterIdLst>
    <p:notesMasterId xmlns:r="http://schemas.openxmlformats.org/officeDocument/2006/relationships" r:id="R5f63d1fd7dff4a3e"/>
  </p:notesMasterIdLst>
  <p:sldIdLst>
    <p:sldId xmlns:r="http://schemas.openxmlformats.org/officeDocument/2006/relationships" id="256" r:id="Rb2ee9d48a2114f58"/>
    <p:sldId xmlns:r="http://schemas.openxmlformats.org/officeDocument/2006/relationships" id="257" r:id="Redd22cdceaa449dd"/>
    <p:sldId xmlns:r="http://schemas.openxmlformats.org/officeDocument/2006/relationships" id="258" r:id="R158d8fe5339b4abf"/>
    <p:sldId xmlns:r="http://schemas.openxmlformats.org/officeDocument/2006/relationships" id="259" r:id="R5f1be76163884465"/>
    <p:sldId xmlns:r="http://schemas.openxmlformats.org/officeDocument/2006/relationships" id="260" r:id="Rbd4ac2bd422f48da"/>
    <p:sldId xmlns:r="http://schemas.openxmlformats.org/officeDocument/2006/relationships" id="261" r:id="Ra17ff36166f0463b"/>
    <p:sldId xmlns:r="http://schemas.openxmlformats.org/officeDocument/2006/relationships" id="262" r:id="Rb1a82f361e3e4e0b"/>
    <p:sldId xmlns:r="http://schemas.openxmlformats.org/officeDocument/2006/relationships" id="263" r:id="Rdf4529a1359d4012"/>
    <p:sldId xmlns:r="http://schemas.openxmlformats.org/officeDocument/2006/relationships" id="264" r:id="Rc33761ae7ce94b1b"/>
    <p:sldId xmlns:r="http://schemas.openxmlformats.org/officeDocument/2006/relationships" id="265" r:id="Rbf1ee27835ad4d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84284695845f4" /><Relationship Type="http://schemas.openxmlformats.org/officeDocument/2006/relationships/slideMaster" Target="/ppt/slideMasters/slideMaster1.xml" Id="R80f22f7cfbf84779" /><Relationship Type="http://schemas.openxmlformats.org/officeDocument/2006/relationships/notesMaster" Target="/ppt/notesMasters/notesMaster1.xml" Id="R5f63d1fd7dff4a3e" /><Relationship Type="http://schemas.openxmlformats.org/officeDocument/2006/relationships/presProps" Target="/ppt/presProps.xml" Id="Rfd17017d2d7b40d4" /><Relationship Type="http://schemas.openxmlformats.org/officeDocument/2006/relationships/viewProps" Target="/ppt/viewProps.xml" Id="R11dcd744edd34306" /><Relationship Type="http://schemas.openxmlformats.org/officeDocument/2006/relationships/tableStyles" Target="/ppt/tableStyles.xml" Id="Re90bb295ab8f4101" /><Relationship Type="http://schemas.openxmlformats.org/officeDocument/2006/relationships/slide" Target="/ppt/slides/slide1.xml" Id="Rb2ee9d48a2114f58" /><Relationship Type="http://schemas.openxmlformats.org/officeDocument/2006/relationships/slide" Target="/ppt/slides/slide2.xml" Id="Redd22cdceaa449dd" /><Relationship Type="http://schemas.openxmlformats.org/officeDocument/2006/relationships/slide" Target="/ppt/slides/slide3.xml" Id="R158d8fe5339b4abf" /><Relationship Type="http://schemas.openxmlformats.org/officeDocument/2006/relationships/slide" Target="/ppt/slides/slide4.xml" Id="R5f1be76163884465" /><Relationship Type="http://schemas.openxmlformats.org/officeDocument/2006/relationships/slide" Target="/ppt/slides/slide5.xml" Id="Rbd4ac2bd422f48da" /><Relationship Type="http://schemas.openxmlformats.org/officeDocument/2006/relationships/slide" Target="/ppt/slides/slide6.xml" Id="Ra17ff36166f0463b" /><Relationship Type="http://schemas.openxmlformats.org/officeDocument/2006/relationships/slide" Target="/ppt/slides/slide7.xml" Id="Rb1a82f361e3e4e0b" /><Relationship Type="http://schemas.openxmlformats.org/officeDocument/2006/relationships/slide" Target="/ppt/slides/slide8.xml" Id="Rdf4529a1359d4012" /><Relationship Type="http://schemas.openxmlformats.org/officeDocument/2006/relationships/slide" Target="/ppt/slides/slide9.xml" Id="Rc33761ae7ce94b1b" /><Relationship Type="http://schemas.openxmlformats.org/officeDocument/2006/relationships/slide" Target="/ppt/slides/slide10.xml" Id="Rbf1ee27835ad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ce3f94e42d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a2a1de4874010" /><Relationship Type="http://schemas.openxmlformats.org/officeDocument/2006/relationships/notesMaster" Target="/ppt/notesMasters/notesMaster1.xml" Id="Rfedb6e6cfc9c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4c4ef420346fb" /><Relationship Type="http://schemas.openxmlformats.org/officeDocument/2006/relationships/notesMaster" Target="/ppt/notesMasters/notesMaster1.xml" Id="R35554e9f0f5a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b512218684b5b" /><Relationship Type="http://schemas.openxmlformats.org/officeDocument/2006/relationships/notesMaster" Target="/ppt/notesMasters/notesMaster1.xml" Id="R713b41db5e2e44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5769a9455548e4" /><Relationship Type="http://schemas.openxmlformats.org/officeDocument/2006/relationships/notesMaster" Target="/ppt/notesMasters/notesMaster1.xml" Id="Ra054a03eb2bd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0bda68db7940ce" /><Relationship Type="http://schemas.openxmlformats.org/officeDocument/2006/relationships/notesMaster" Target="/ppt/notesMasters/notesMaster1.xml" Id="Rd3af050ecc47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9529307e4412f" /><Relationship Type="http://schemas.openxmlformats.org/officeDocument/2006/relationships/notesMaster" Target="/ppt/notesMasters/notesMaster1.xml" Id="R03f1ba69375c4d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e6146d9e64486" /><Relationship Type="http://schemas.openxmlformats.org/officeDocument/2006/relationships/notesMaster" Target="/ppt/notesMasters/notesMaster1.xml" Id="R4d53561663c841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c80f2cdab64ee7" /><Relationship Type="http://schemas.openxmlformats.org/officeDocument/2006/relationships/notesMaster" Target="/ppt/notesMasters/notesMaster1.xml" Id="Rf780b94194d14b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72ff61cb5497c" /><Relationship Type="http://schemas.openxmlformats.org/officeDocument/2006/relationships/notesMaster" Target="/ppt/notesMasters/notesMaster1.xml" Id="R130ab4bb120445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e87614d155450e" /><Relationship Type="http://schemas.openxmlformats.org/officeDocument/2006/relationships/notesMaster" Target="/ppt/notesMasters/notesMaster1.xml" Id="Readb9e62717a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f076d8a80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43587b80941c0" /><Relationship Type="http://schemas.openxmlformats.org/officeDocument/2006/relationships/slideLayout" Target="/ppt/slideLayouts/slideLayout1.xml" Id="R4642914f75164e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2914f75164e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cc01dcc1a4fff" /><Relationship Type="http://schemas.openxmlformats.org/officeDocument/2006/relationships/notesSlide" Target="/ppt/notesSlides/notesSlide1.xml" Id="R485b5ca3b2c3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70d1a1074955" /><Relationship Type="http://schemas.openxmlformats.org/officeDocument/2006/relationships/notesSlide" Target="/ppt/notesSlides/notesSlide2.xml" Id="Rcfb9e2e9100248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c6941ba24292" /><Relationship Type="http://schemas.openxmlformats.org/officeDocument/2006/relationships/notesSlide" Target="/ppt/notesSlides/notesSlide3.xml" Id="R2e4434deae0a42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c39b307964e72" /><Relationship Type="http://schemas.openxmlformats.org/officeDocument/2006/relationships/notesSlide" Target="/ppt/notesSlides/notesSlide4.xml" Id="R0ee5a7ae2412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22ed83b164126" /><Relationship Type="http://schemas.openxmlformats.org/officeDocument/2006/relationships/notesSlide" Target="/ppt/notesSlides/notesSlide5.xml" Id="Rdba5f00741d8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d9dbabeab4ffb" /><Relationship Type="http://schemas.openxmlformats.org/officeDocument/2006/relationships/notesSlide" Target="/ppt/notesSlides/notesSlide6.xml" Id="R714a94a02559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8531b49444103" /><Relationship Type="http://schemas.openxmlformats.org/officeDocument/2006/relationships/notesSlide" Target="/ppt/notesSlides/notesSlide7.xml" Id="R6b492e455a26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9077fc688413f" /><Relationship Type="http://schemas.openxmlformats.org/officeDocument/2006/relationships/notesSlide" Target="/ppt/notesSlides/notesSlide8.xml" Id="Rfe68d26ee7c848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08859189a48f0" /><Relationship Type="http://schemas.openxmlformats.org/officeDocument/2006/relationships/notesSlide" Target="/ppt/notesSlides/notesSlide9.xml" Id="Rf1c991d8138e4f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284b105924e29" /><Relationship Type="http://schemas.openxmlformats.org/officeDocument/2006/relationships/notesSlide" Target="/ppt/notesSlides/notesSlide10.xml" Id="Radc8a2c3e83442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EFA206-536F-4C1B-A65D-2913C6B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DF6B4D-E166-42E1-948A-6B70257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PRODUCT SHAPE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DAC386-A32F-4BD8-B4AD-BD35082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1DDD1-E6B2-49DB-926E-F2350B3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一个可自定义的科研生活驾驶舱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1287B-2E06-4C35-9475-532040DE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首页一眼看清今天、近期安排、长期项目和生活约束。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D3CDE-8A42-4AA7-AC5F-0E71C60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790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不是普通日历，也不是待办清单。</a:t>
            </a:r>
          </a:p>
          <a:p xmlns:a="http://schemas.openxmlformats.org/drawingml/2006/main">
            <a:pPr algn="l">
              <a:defRPr sz="18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它更像博士阶段的个人科研操作系统。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7BF74-E29A-4566-9018-D002D65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设计重点：一目了然、可拖拽组合、任务字段可自定义、科研场景优先。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5BD39-401C-4794-8A74-669380DB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04900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0F17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7BBA3-5D4B-47DE-8B54-EF139E3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333500"/>
            <a:ext cx="61150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FBF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4B93F-241E-4D45-B5CA-FC7C9AFF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333500"/>
            <a:ext cx="11620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A"/>
          </a:solidFill>
          <a:ln xmlns:a="http://schemas.openxmlformats.org/drawingml/2006/main" w="9525">
            <a:solidFill>
              <a:srgbClr val="22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C9E12-76DC-4ADB-B130-44D5614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6CA94-4CC6-4B66-A734-D31B69D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47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1FCA9-3F54-456D-84F3-F7FA2DEB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BD855-3CF1-4221-B64E-308C1B9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CDCDE-7793-4BB1-8996-5FAB5B8B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96270-DB5C-439B-8E91-B142688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45FEA-DC6F-4093-A7DF-9E252D0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rPr>
              <a:t>学习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F0831-0C3B-4757-A3E9-150A7EE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48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F6B27-1D25-46FE-83AF-462A44D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rPr>
              <a:t>家庭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BF316-19F4-4922-9D19-9C7A8A29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AB800-2BBE-48FE-8195-EBA6B38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814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8D0D5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53C1F-765F-410B-B42C-3D10D4BC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2714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91A17-E496-4D95-861D-6BDE7B7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今天最重要的 3 件事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C4625-4F7D-4C36-B575-208AA56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3DCEA-5955-4464-AD49-5CF0E92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完成结果段落初稿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886A3-3B15-4E47-9076-33D3D2D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5EA41-0875-4793-A581-7FCA5B59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预约下周 HPLC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38A8E-7C6A-44C1-9A8B-A710FF3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B0500-2453-4CB1-BE1E-56ABF62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晚上保留家庭时间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45E4B-9039-474C-A873-BD5476D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1581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953DE-1CA5-4FBD-8C87-148523D1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本周负荷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7D501-5CF3-413C-A018-7D158E0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55580-898C-4C1B-A07D-F24F2F51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7680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B1BE5-DE8B-4789-9233-B2300F0C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D8084-C302-4E64-A7E8-E61F09B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480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0EADBF-79B6-4B51-A754-53F9FA6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719E61-553A-458A-99F3-3754340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61874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4AAA00-36E3-4416-A499-D836DF9F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137A85-EB5D-4651-8F6D-0DBFF311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C1303-B69C-49E3-A358-46EC262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生活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5FB8D2-0163-4EDD-8775-35EC3CB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4457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85EBE5-3A9A-408A-A8E7-1F563C5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今日时间轴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33E49B-FA60-47A3-B812-88A5714D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08:30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5A2860-F13E-4C3F-AE44-F58B2122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33825"/>
            <a:ext cx="2145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6D0E0F-57A2-4BE2-B9F1-141AAE7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论文写作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E54EE4-1DC3-4D17-A7C8-BABB947B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10:30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906395-BBB5-4218-9174-C5EA017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76725"/>
            <a:ext cx="1121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02CE7B-5A2D-49F9-8E31-EB77804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862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实验准备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13612-8D07-4BC6-A10A-0B1036F1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14:00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AB55A0-134F-4C41-B90F-4F67BED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19625"/>
            <a:ext cx="15118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518FC6-A68E-4D11-B736-3176DC95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数据处理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706F84-661C-4B68-A987-8D7AB9DC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19:30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8CC820-AC05-4279-ACE2-A8ADF01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62525"/>
            <a:ext cx="80467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5483AA-4154-4DAF-B1FF-4A67A51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720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家庭生活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06E4A5-1559-42BB-91FA-44EEEF9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217D74-3EDC-4EDB-8777-CB49D766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6175"/>
            <a:ext cx="1200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高度自定义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C3372C-C4F8-41CE-BED6-CA2DDF3B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E3626F-0811-4F1A-ADB8-DC7310A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86175"/>
            <a:ext cx="1200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科研模板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0957A4-416B-4A55-BF36-36C1CFB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26B2B7-A861-4DE9-94DC-AEDC2D9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86175"/>
            <a:ext cx="1104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生活平衡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836983-86E0-490A-91BE-5CEDF80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CB3780-5F21-4396-99C6-23EAA51F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20802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53DC5-8644-4A8C-B4F0-D2880EB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89D8EC-EC5E-4D97-9691-95A27427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SYSTEM MODEL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078507-6727-4B56-935F-D82B99B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7A70C-5098-4184-A3C8-E3A999AC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四个对象让复杂生活保持清楚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BF2F-31FD-4B44-B886-5255422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任务、项目、视图、模块彼此分工，用户可以自由组合。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EFA2C-27F5-4C16-A948-7F0A3DC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BAC8C-4383-4E9C-B806-C431291F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09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个人科研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操作系统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3DDC0-44F1-4828-9AC0-A2509C4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957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9C2C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9C2C8"/>
                </a:solidFill>
                <a:latin typeface="Microsoft YaHei UI"/>
                <a:ea typeface="Microsoft YaHei UI"/>
                <a:cs typeface="Microsoft YaHei UI"/>
              </a:rPr>
              <a:t>统一数据层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60A33-7D43-46FF-81E5-06E83E14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EE418-ADCA-4BF1-88FE-D81B54D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4FAC2-E095-41B2-93E3-0790DB8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任务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0DBF3-FBE7-45C9-835C-EB08C8E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每天真正执行的事</a:t>
            </a:r>
          </a:p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时长、精力、地点、依赖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26CA4-D857-4BFF-BF8B-279C043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243C6-F718-477B-883E-AE26AC9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F8352-0177-4A26-8CD9-1C912B1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项目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7A91D-FD77-4EA5-8807-3F819BAF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论文、实验、技术学习</a:t>
            </a:r>
          </a:p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长期目标和阶段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9A6F9-A91A-4B15-AB24-D713688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CFD6E-B634-4E75-8B8F-DE25CB4D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F4760-B40E-4D1C-9B1B-4331AA04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视图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A4A8B-CDAB-48F0-B492-53107B17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日程、周计划、看板</a:t>
            </a:r>
          </a:p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甘特、复盘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F541B-BA7A-47E8-AB53-64F3D61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E287E-4A37-4D56-8A2F-81DCA369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34142-9E2A-4850-980A-D73212DF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模块 Widget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7E6ED-D49A-40C9-AA39-FCEC0D83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530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首页可拖拽组件</a:t>
            </a:r>
          </a:p>
          <a:p xmlns:a="http://schemas.openxmlformats.org/drawingml/2006/main">
            <a:pPr algn="l">
              <a:def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进度、截止、负荷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98A36-6627-4E0C-99F6-166E16DB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14625"/>
            <a:ext cx="171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3"/>
          </a:solidFill>
          <a:ln xmlns:a="http://schemas.openxmlformats.org/drawingml/2006/main" w="9525">
            <a:solidFill>
              <a:srgbClr val="BFC5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AFAF3-67C3-4125-A75E-BF97372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14625"/>
            <a:ext cx="171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3"/>
          </a:solidFill>
          <a:ln xmlns:a="http://schemas.openxmlformats.org/drawingml/2006/main" w="9525">
            <a:solidFill>
              <a:srgbClr val="BFC5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7AC10C-093C-4FFF-9A73-743FD46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76700"/>
            <a:ext cx="171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3"/>
          </a:solidFill>
          <a:ln xmlns:a="http://schemas.openxmlformats.org/drawingml/2006/main" w="9525">
            <a:solidFill>
              <a:srgbClr val="BFC5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28CF1-7FD6-4E3C-A6B3-5F952DC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171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3"/>
          </a:solidFill>
          <a:ln xmlns:a="http://schemas.openxmlformats.org/drawingml/2006/main" w="9525">
            <a:solidFill>
              <a:srgbClr val="BFC5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432C3-701C-4269-9CD1-D15231F2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38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0145C-D2F2-4118-8C8A-5BDF4BB4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设计含义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2CAAA-7477-433D-9EA5-0EEC196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7077A7-018D-4167-B342-8C72E808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任何任务都可归属项目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4449A-B20F-4A0E-B907-900C9BF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85F3E1-7D48-4812-A67E-B26E826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每个项目可有专属字段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31782E-C7AC-4624-8C8C-4FE949F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2904B-7076-4D5E-A9D2-630EFADE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首页由模块自由拼装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882DD0-C7CC-4B2B-B453-21CC256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A2D8E-3F29-48E8-859D-4652CCD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同一数据可切换视图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AC104-6695-47B8-80D7-AB312EF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1BC21-B775-4C86-9CD2-A3D467B7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67838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E6849-3D32-4F62-9068-D7E8AE5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F11773-7B06-4B59-BF70-F0E5160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TODAY VIEW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17A0F3-E155-4A5C-9B5A-F866280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697A5-7FF1-487B-B554-02A1D64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今日驾驶舱：先回答“下一步做什么”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4FF2E-70D1-4A6C-9473-7989B64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当天执行页以时间轴为主，旁边放三件要事、项目状态和近期提醒。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AA73D-7080-4AC5-A9A0-619209F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E18FF-29D1-4B22-8A50-E1E4B20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FB43A-FC7A-4CE3-995F-0E252E0A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21E19-271E-44B1-92F0-F54D6913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6AFAD-BCC3-43D1-9722-DDE3B1A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F66D2-FC4C-4D6C-9F91-194BA0D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EB8A7-A540-4FB3-BA60-DBADB00B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4B8F2-AC40-4E65-8749-30B93DD0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80258-19F6-48DA-AEBA-0F3E39E1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9B6F8-2409-4733-A996-44F64839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B02D1-F8E7-4066-9F66-0683848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11B23-CE82-4C92-8019-759BD67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540E5-A650-4CE1-9132-553083F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D9059-6DE1-4280-BB5D-F808D7D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918DA-CEAF-4C45-8D85-3E94798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FD4F9-4B46-4601-A3DC-B4B6EBAB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3F383-60A6-4B18-9D6B-F4CD65E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689DF-0A3F-47C2-90C7-75550F6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09229-52AB-4371-9E3F-E2AA22EF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59C4A-2E0D-4C6C-96C0-A1AB200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20F3F-BBF0-4A60-ACD7-5177D25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59697-CE9E-4BD8-B021-E7F0A504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32B7B-8486-4ABC-9087-CF971EA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7C6C0-C19E-4898-9BC7-248B5C1C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E750F-5E29-4B75-B926-E254546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B1F6E-7684-4587-948D-97C50F5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95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2026-06-08  周一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6767A-97B0-4CF7-8412-BB01C15D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今天的关键推进点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7C71D-18F3-46F3-BC15-9AAF01B1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4307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73984-AAA2-42A0-B42B-55DFD4B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742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高脑力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90CB84-B6D2-49BB-97F6-5C15B8E9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43075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531E1D-D2E4-47CA-A3E4-06FD6D0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78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实验窗口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701246-16E5-4686-B8DD-288A779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51244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77ACF1-4810-427A-B9E3-F1F148CB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时间轴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FC5B33-07C5-4625-9E63-00CB907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08:30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D33A5-1358-47BD-92D5-CE0E34F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33700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1EF2E-C816-4513-A854-57F76CA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861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10:30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661C92-3D6D-4273-BEB0-ACAEE2EA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62325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0E1CEA-9FCD-496C-8F34-177D39C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12:00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BABEFC-8C33-4769-938F-8F34386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0950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43711-2F2B-4D4F-85D0-A7C414C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433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14:00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DA7C0A-F229-4D28-B8B3-310FD465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19575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4F25CB-AE92-4E5F-9937-39342D90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72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16:00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C59E1D-D69C-49FD-9C2A-939BDC1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48200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A70C3-3996-4A6A-B07E-F238934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006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19:30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13FA61-5CBF-44A1-813E-E990FCB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76825"/>
            <a:ext cx="400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C68C00-FFE5-4178-B1C8-D82A6CA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C62447-F37B-41A5-AB25-702ADE97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论文：结果段落初稿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EDED1E-B0A7-4AE5-A2D8-446B5D0F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A8665B-6F25-40BF-B8B8-8BB1773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147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实验：配缓冲液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9D292-31FE-46C1-A964-86B6B4A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30647C-05F2-4D9D-BF95-0016134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仪器预约确认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71BE44-4B43-466E-9E4E-8AA3CD4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957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6FB876-7A9B-4B2A-98C4-502E9289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数据处理：图 2 初版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632F24-669D-4BF8-B76D-2A805D2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7205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9BE6BA-F943-4C99-A372-9F8E531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家庭/生活固定时间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0B1613-4C37-45C2-983B-EC2FEBAB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F769D4-0EE9-4505-A07D-82B7D57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今日三件事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7CC85C-C27F-4CED-8D9E-DAAF602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479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F19F6D-1115-4E76-970B-C4B9E74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结果段落写出可讨论版本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0E6BA5-6BD7-4A9D-B6ED-FBE2F311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718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9851CF-A80C-4ADC-B5F7-09768C2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完成实验准备并确认条件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2BDD03-C936-4F7D-A31A-53225CE8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956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440AC4-D32F-4537-B21B-C09F903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晚上不安排临时科研任务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2A0D39-F3E8-4C12-A4E4-F9FEF16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9550"/>
            <a:ext cx="3048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40D8C0-6D02-49D1-890B-36384503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529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项目状态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538893-E1D1-4A1E-A80D-DE1AA8B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815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论文 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A6A914-0785-4CD4-A83C-8E56A69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4F73FF-1709-4609-89EA-5E884D3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771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4381FA-5967-490F-AB5D-68F1D78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71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54%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D24B22-B99A-4631-8783-35B9349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实验 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05AD40-1405-4B42-96E8-6A5E111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3BD529-F15C-4B1C-B5CD-599E6E6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542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263263-95CE-423A-AC57-64B2433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386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38%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2C4B95-72CA-4D7A-A877-6E815355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技术学习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0A689C-4B5A-4F2C-8E22-D32506B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24186A-97D0-463C-8402-CCB259BC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A4B095-C66A-4067-B3DA-51032D2F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24%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FA5515-E2C6-4F78-8ADC-F1A180C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816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生活维护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458B0D-427F-4286-89CE-530D44EC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3B88DD-E747-4ABD-AD19-52291EBE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942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1626A9-49DB-485C-B3D3-B00033B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720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66%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56FA11-68EB-4332-A65D-3629F5D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3CD18E-6192-450A-B72F-FA4BB9D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47464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36DA0-3384-413A-A956-1FC78B89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79D989-EC13-4C82-B72A-C513A1D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WEEK VIEW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72F68C-2D91-4F0D-B0C1-719FCA8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82586-4153-4A50-884B-D55607D0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周计划用矩阵暴露冲突、负荷和空档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7917E-F817-40B9-8F3B-71AF6FDA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横向看日期，纵向看任务类型；颜色表示类别，深浅表示负荷。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738FE-1766-4FF5-B82F-5F23E85F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672FD-0B12-4701-A999-DD47074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1539A-B465-4D01-9F00-E9A2138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379E7-B69D-4A14-8773-184396A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9B1B6-4F2E-4EA4-A6FF-0921FF43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5D9B1-0DD4-4902-B1BD-11586027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A1B15-21A6-426F-A757-9D92CB47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0763C-B9E4-4828-B1D2-9A9435F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3B273-B3C1-424F-91A4-403DEF73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18E37-4D09-4E58-B2D8-ED2583A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115E9-321F-4B0D-A3F8-E9A7A5C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B05B6-1093-4860-8FAF-4DD2D454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7C15B-736E-4E12-8D06-B7D5C637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36D8E-54A0-46F9-8C7F-B926440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5B790-70EC-48FE-91C7-CE6BE88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5CE82-897B-419D-8798-2A47E78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8854C-26AE-49BA-BEEC-DCCE5DB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E3768-BD73-4940-ABEC-B1A81B2D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1267C-F1D7-47AB-AF4E-F345D07A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61FCB-D239-4C4E-AB16-8E91B046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2FF35-8433-4B49-9342-CC94AED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87BC1-8862-47ED-8CDC-7E01967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981CF-BB55-495B-B29E-600A1B6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48596-EC02-4309-9017-20A7DA0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E5DD4-1726-4A85-98D9-11A0C16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8DA327-57CF-4311-94A9-D3AF2ED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6 月第 2 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7353A8-B8C7-4FF7-908B-49B3533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1D4F3-E8DC-453C-99E0-53BCC9A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34BE60-0B5B-4DEB-AB84-9C7B9A2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24686-3A95-44C3-BD6A-E2DA8CD0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A23341-0F7A-4CAE-9B7E-AE138534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6D7C98-C3E6-4368-923E-2B3129D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D87DA-B2A7-4521-93F5-9D85E92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314DA4-485F-4FF8-BB30-4BDE528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FD77E-7287-4BA9-AEF2-67D415A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28F41-B2E0-4E8D-B2AF-6BC333D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04A9C6-5AD0-4793-A224-365F754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C42C17-6250-4C6F-8B95-2655D166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A4B2BD-8C44-49BA-ADB1-83A99DFD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CE14B6-A937-452C-B239-F9A4327A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2A5395-B664-46C5-B449-402A858A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ABB08E-C5CF-4779-917B-F7AEA5D4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813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A94554-00D3-487D-B950-6B46D77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0A59FB-A8E6-4553-A0BA-D0EA570E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D3C630-2A83-49FB-A12A-B1C9F75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D65E1B-C525-425A-BCFD-ADB4A68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74C253-6E9F-4DBB-9A62-85FE9E1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9D4D0E-9525-4F22-B94C-A73C7A5E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D82F43-28B8-4CD0-B232-3213DF5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86DF6B-081D-49AE-AADF-30450C09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385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数据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06A70C-FC0C-41D2-A9E5-B83CF718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D84691-97F9-4B4B-938D-8CAE5F9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E68B17-270A-4DA1-9FD0-6FACEEE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D8B3F4-7200-460F-A69F-D3357429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1B502D-51C9-4BA2-894B-74B9442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439AD6-1E97-48E3-856B-DFF7D157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F224C-4364-4860-A1ED-AF1A792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CF1BAA-B06E-480D-A411-505192C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957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学习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EF5C79-8AAF-4FA3-84C5-28764F58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9E8130-591E-40EF-998C-11D5E66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7398FB-2326-46D9-A4C5-B032AD3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1C70F5-5330-4ADD-A9C1-426524B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0664ED-6DE1-449E-91C0-F53E7AB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8A564D-3A78-43DB-92BC-BC531B3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8290F9-E684-4DB6-908A-6AEDE53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BE9EEB-B2B3-410B-9904-6D59519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529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家庭/生活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844740-FE96-497F-B68C-7B8373D3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5A7642-A618-48EB-8246-355DEF9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D2853C-A6DB-4227-9A2F-B156030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C6735F-AC67-48B8-8619-DF0E249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935BB5-7370-4F83-AF86-E3896BA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5AE9F0-16E2-46A9-8F3A-521860F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459B7D-F83A-4853-B7FF-8DFDCD2C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291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71E61B-9E51-465E-9D9D-4D6C3805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恢复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E987B8-949D-403E-B521-5CD01FC8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D88C80-42FF-4612-AAFE-03885B3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7A6EED-14E4-4592-94DB-AF0A92D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DBC130-665B-4C3C-8759-76F212DC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89A3C9-C8BC-4062-B4B0-8F21C054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5A52B1-5E3E-4B70-88F5-191C803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9D9A9E-6C78-4594-A08E-8BD75A9E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72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1B6452-B83A-497B-9D32-8C2AD39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66975"/>
            <a:ext cx="5257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F8C78C8-3A86-482D-9AA1-79DC49B6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95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写作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B0C23E-1506-44DA-9D28-E74EF3B4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66975"/>
            <a:ext cx="3314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052875-6B14-44C7-930B-E1853E6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95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图表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E9BD6F-A1A1-4C52-B806-89421A1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66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71FA6D-C858-4981-B0BE-3BF61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95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修改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04D955-F09D-4A76-B5C2-E9BB2231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2417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76721F-89B3-48DF-999C-71464A3B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上机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18F265-E93F-4178-8CE6-E2B4EFB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241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D40EF3-A6DB-4988-A669-7BAE847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527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反应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03C1B2-1A9D-48A0-AA3A-B978D89F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24175"/>
            <a:ext cx="2628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F4155B-A607-4ACF-B7DA-64F45D8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527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清洗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D32DFA-871F-4240-B84C-8FE81204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3086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130F9F-6C2B-4DF8-B516-1592A245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09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处理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22EFBE-692D-4878-AB6A-27E649C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4686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C0EF0D-6D7E-45B0-A8EE-883D6518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09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统计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BF30E6F-8AB8-4E64-A62B-3AEFF3C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2171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65145A-25E4-4B6C-AA46-D91B47FC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09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备份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F5CBFAC-B7D8-4EED-BB26-0F0A2F3C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2743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0B82E0-39E7-49F5-84AD-948BC32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671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代码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C2CD2C-B2C9-48FE-919B-BD28F4DA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2400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8E6233-E2FD-4122-A728-B5A2C42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8671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复习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7D0A90B-6896-4001-BED4-76B5549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957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AEA756-E488-4436-A9C9-12A562FB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243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家务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B638DC1-BFE9-4D51-9BB8-2550E07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95775"/>
            <a:ext cx="3543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2DF520-E43A-490F-943B-A5340069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243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家庭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4E6DAE-34F1-41F6-A39F-A2DD2DB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95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F8FF8F-18B0-42EF-8775-314C5250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外出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D2A1A1-E5E1-4F62-A0FF-C33FBB29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52975"/>
            <a:ext cx="2628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9525">
            <a:solidFill>
              <a:srgbClr val="77A65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90EA2E-85EA-4801-B827-892208C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781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运动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37B8BB-ED92-44AB-9B12-BDCC84E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52975"/>
            <a:ext cx="4229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9525">
            <a:solidFill>
              <a:srgbClr val="77A65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FF7D579-8D6A-4972-82AE-838C1AC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81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休息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6384B0-C8E4-4133-8DE9-C1EE4F1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1049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70798CC-E6CA-4AF6-B1D3-F7D078C0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自动提示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8679E89-E8D9-4E1D-B9CE-F12A85C6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0DF888F-A25B-4323-A5B1-E934C627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周四实验 + 家庭安排接近冲突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A0FA20-DD64-4B30-B0AF-DBF9832D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F3C2468-9BCF-48B0-B5F8-5E7F49E4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周二高脑力不足，写作勿加码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4EDF7ED-998F-4525-B2E6-D43AF794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EB3A4B-382F-48BF-8859-B706B18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719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2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周日可做轻量复盘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11601D7-3267-457B-88C6-79A70CE1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DD52A8-82FC-4507-800D-2C91032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3943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27326-D67A-4309-8649-C0CB30E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7996D2-716A-4D94-A365-CF322C9A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PROJECT VIEW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BE389C-5C23-42E1-964E-49AE766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DED5D-4809-47CD-A5B0-8613C3C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长期项目用泳道显示阶段、下一步和阻塞点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F3DDA-D07C-4AC7-9106-9544818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论文、实验、学习、生活都按项目推进，不被零散任务淹没。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E351-0A6B-4D69-BB7C-C2B1418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09B44-2C7B-43A1-AB9A-CC169E7F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5A683-9030-40C6-8491-63D7F09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68689-BEA4-44BC-BB7A-C448251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FDFDA-408C-45F7-85FE-9FA4BDF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8FEAE-F6F4-4667-A267-1270D50F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5779B-7FEA-46AC-82E2-70386F0F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9F755-B9DB-4DE4-8485-4AD8E204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1DE7D-8365-48BF-B1A4-9E6776FE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5D98A-619E-4BAB-9F2E-633740EE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E658D-517D-44B0-84A3-D7641BB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79BA1-CF03-4D3F-80D9-D411D66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8865C-DA84-4C8F-A2F1-9D21842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4D29C-0E29-41A5-BE85-F4DE9C34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1E8BF-5F8E-4472-AA30-D86234C3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CCBB5-07C5-45C0-8A03-80E23BDD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E5382-91B9-4CB4-98A4-C265BFA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F88CC-AC7E-47FE-A6C8-6759C34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24BE0-AC63-4EF2-9A0A-7D836D1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E6450-33DB-4780-B475-E2A6C9D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C00C2-A355-476C-B897-855E1ED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D08EB-109E-4728-B317-6625B164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780EC-7E45-4CC4-BFF9-9C294724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9E3D0-590B-4876-9041-3DC1869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BBC50-C5FE-41EF-A851-0A41801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0C38D-58F6-4A11-B4C0-B82CB3E6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项目总览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F62F1-460B-4439-A425-ABBC6A6D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A"/>
          </a:solidFill>
          <a:ln xmlns:a="http://schemas.openxmlformats.org/drawingml/2006/main" w="9525">
            <a:solidFill>
              <a:srgbClr val="2230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1A0A0-902E-4122-B3F3-F10E54E3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62125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按阶段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E11A5-F621-45F1-8FC1-2805326D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756DF-94CA-474E-A0F9-4AC8BFA0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看阻塞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BAAAA0-135A-4706-A586-1B23E24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75FFFE-5524-49D6-9A88-84164719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2AD0B-205C-4522-BD36-6989F2BB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 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2C2F2-634B-441F-9F30-D24F099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结果与讨论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8F688-BF2C-4FF7-B8AD-1BF81F8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14600"/>
            <a:ext cx="2095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C8604E-6197-4920-9433-91D93B52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14600"/>
            <a:ext cx="11315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148D40-6770-4305-8E91-BB9791F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rPr>
              <a:t>54%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69D2C1-7F57-4F17-A997-61C388B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下一步：补图 2 统计说明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BD7D17-4EF7-4DD2-96B5-862BEAFC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阻塞：等共同作者反馈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712C01-B7C5-4D72-A323-622E520D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9D92E-7CAA-4740-BB8E-F9AB589F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F9325A-EF9B-4E8D-A397-7D3161B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实验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71655-7C87-445B-984B-E4EA8328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671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参数优化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E1083-F87B-4A4A-8DB5-AC554CF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2095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9F133C-3828-4809-BAA2-79703C9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7962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828F43-4510-4933-9E7B-8725F83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38%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C8D495-860B-43BA-8A0F-39FE6D1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下一步：完成 3 组反应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35D324-F57B-4777-8B18-53B527B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阻塞：仪器预约未确认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35089D-DBE6-453C-A8E5-017B1E9E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4335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2474AE-168C-4C0A-B157-6B496A57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433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38B3DD-BB5A-43AE-9AEC-01781ED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技术学习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322BBD-A360-4029-9B96-229AA658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自动化脚本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07BED8-B761-4856-A1A8-A93B7D6F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2095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8924EB-4840-4D6B-9B99-8A9A8DA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5029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DEABE1-DE6F-4399-941D-7DCDF65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6B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C6BB0"/>
                </a:solidFill>
                <a:latin typeface="Microsoft YaHei UI"/>
                <a:ea typeface="Microsoft YaHei UI"/>
                <a:cs typeface="Microsoft YaHei UI"/>
              </a:rPr>
              <a:t>24%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AC9114-637D-4078-A298-21C2CD4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下一步：整理 1 个真实案例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F417D0-4771-4F64-9775-1EEF054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阻塞：练习时间不足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5A1471-EE2B-43EE-A949-3AFA3FB7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809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0301D2-549D-467C-BCCC-73F6336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8CD41F-96BB-4302-8CA2-B0AEB21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768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生活维护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D36790-F792-46D1-9B5E-2A800F1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054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稳定节奏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D497CF-571B-449A-B5B5-CDDB682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72050"/>
            <a:ext cx="2095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68CA38-EBEF-414E-9723-210DF765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72050"/>
            <a:ext cx="13830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1C854A-9E9D-4902-9BED-E4C2976D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rPr>
              <a:t>66%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801C13-20C0-495F-B88D-52A8E2F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下一步：固定晚间边界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D2B08F-F67E-41C7-BFCF-4C96461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86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9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阻塞：临时任务侵入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FE466F-C363-4824-88E8-2B28B013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811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1E279F-C61E-4FE1-A2C2-057DE2C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054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规则：项目页不安排具体时间，只维护阶段、下一步和阻塞点；具体执行回到今日/周视图。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A08285-007F-47FD-BBFA-0CB8E0CC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33C78A-293C-478E-9F0E-1D03ACA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93505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3B5C4-7B5D-4CCE-BD47-56D201E0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937B90B-12D7-4AFE-A8C6-45AC37B3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RESEARCH WORKBENCH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B74D6E-6510-4C34-B6D0-9897FFE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D0F94-0F23-4253-BD6A-89AE12C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论文和实验需要不同的任务字段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9AAC-26AE-4769-B821-4EF53AA1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同一个任务系统，按科研场景切换字段模板和工作台布局。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43540-7ED5-4118-9760-0E8DCA8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DE5B0-6089-4504-8E65-C89A9C7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E62F1-026E-4CBF-AB3F-F344AC1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D2301-1E90-41A8-A2D6-AD4178E4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35D2C-3DEF-403D-AB0E-03B4B81F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339EB-978C-48D4-9EE0-520B570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98234-1CFC-4BF0-A612-828509C2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FB883-EFB9-4DD2-A2EC-4F2859E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04E20-AFEE-4138-8976-C362143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60F76-E28D-4C82-A00C-3D3C34E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2B0BC-65E9-4097-B4E6-27C6504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EDE98-D27D-4344-8466-269EB980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276B9-2A48-42C4-86F6-93F032E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E2A76-62B4-4052-B3DF-878540A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EE478-F816-4149-8A2D-7CBF15F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DD958-23DF-4264-BBA5-3870EDB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C54EA-69B7-46D9-BD60-B4BC878D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A8FE0-6C6D-42E4-B65E-AA1A0AB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FDFC5-E976-49A8-A287-7DEACA14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02A97-EE82-4D00-9FFE-9649D4A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48ACD-CB0D-4D50-A2A1-08B911B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7759F-649C-437F-8787-C8727FAC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4CD5C-407D-4FA0-A52C-E49325A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E75F4-3F52-41D8-866A-EA645F2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552B3-1607-41E3-90ED-3E996B0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560C5-63D3-4494-BB27-BACAB2C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科研工作台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8B6E8-DFD5-4CCD-BEDA-D54784E3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A7A4B6-7F1B-4C31-B669-A2CF230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62125"/>
            <a:ext cx="857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论文模式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8BFD4-8166-4872-B563-30C80944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06AE2-A627-46DF-A072-8BC2D324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2125"/>
            <a:ext cx="857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实验模式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162B0-CA12-419A-A4FC-12DD346C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39433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09B375-56C5-461F-80C8-5314CCE8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 A：结果与讨论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2D38B-A26E-461F-BD1F-B57A85C4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摘要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046B9B-7CBB-4B0F-90F0-E2F776A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6D5C91-14BB-4AE8-9CAA-9089C3EF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70008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6A2DFD-E341-429D-8A4B-2309A24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35%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C70AFA-9DCD-4A7A-891E-8CE1B9E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引言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77106-C21C-41F6-AAF3-CFB3D72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8C07F0-747E-40B6-A9A7-26D4694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4401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7C8E80-15B6-4AC0-BE5C-767CF049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72%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0450C5-1D8D-4E64-867B-B16C52E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方法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33BD16-CC8E-4CBC-B527-C3E698BB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814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0A4515-0B65-4D86-8056-2DB52B1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81400"/>
            <a:ext cx="17602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DE9B24-909F-4B8B-B08B-06CAD6DD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88%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4E2663-7B51-44AF-B206-22773591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结果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B8F2B7-9E84-4BD9-A419-1233751F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FB8B14-F94C-434E-8950-DAAE60B9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108013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D77FEF-57DA-42E0-A0B6-72A20E5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243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54%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B5535B-E473-44BD-9145-DE50B53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434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讨论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2D8E38-BE7D-48F6-A008-BEA8CEC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815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F82388-71EC-44A4-8439-2B92DC9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81500"/>
            <a:ext cx="62007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349F4E-2E73-47C7-8205-5299C4C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31%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ED8969-CCD7-42BB-871B-92A9530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图表清单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158817-0CE1-4BBF-86DE-01A8B7B8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768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41155A-7B11-4A62-BE21-BF796A2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Fig.1 流程图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F8A4D9-8883-4FB2-A9E4-E53FC0F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768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24A18C-129D-4971-96B4-D3F6ECF6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Fig.2 统计图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07CD73-8A73-4238-85B2-CAE3043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768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B45DD2-C995-411B-B6B9-8152D24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7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Table 1 条件筛选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1F99E3-B1C6-4604-9353-FCA846B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3886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C43405-A9A9-48B1-8E71-966BF40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实验 B：参数优化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580AB8-E339-4D92-AE33-50907A8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9525">
            <a:solidFill>
              <a:srgbClr val="77A65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AC5F85-9E42-4F73-9B76-15E4C59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设计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A9EAD8-9C49-4413-BBD6-2C381EC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7A6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77A65A"/>
                </a:solidFill>
                <a:latin typeface="Microsoft YaHei UI"/>
                <a:ea typeface="Microsoft YaHei UI"/>
                <a:cs typeface="Microsoft YaHei UI"/>
              </a:rPr>
              <a:t>完成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F966BA-9F24-4E3E-A891-5E23A36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389C02-7967-42F1-88FB-66980B2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428CF3-EE03-4DA2-B7DB-A87B70D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准备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F33283-D0D5-4E00-93B0-5B1C35D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今天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BE968C-F689-46D2-B5A4-7B889CC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C7B993-7292-4AEF-9F5D-87601A9D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6F1B8E-8F52-456F-B44C-6FCE1FCC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82BEE0-F259-497B-9779-BD63E0C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rPr>
              <a:t>周四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23E13D-E99D-4A53-9098-E00D42D1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D14A83-116F-42C2-B0FE-09E9406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43CCE8-7A90-49D2-B49D-F183E4C5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等待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18F805-E3A9-4F6C-910C-FB675C9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24 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70F42E-D5D2-463E-9E64-008F7978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86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EA029C-6914-4C0B-9C9E-8AC077C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FACE03-9E99-4653-844C-7775B99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90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分析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A5BB3B-ABB8-45E1-8162-7DB86CB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rPr>
              <a:t>周五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C18A4C0-D6AD-458D-A6FD-6C1CCAA7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自定义字段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2C2B7D-4585-4E11-A9FE-F5DE8D0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样品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DE2AFF-A17C-4A92-B80B-0CF200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S-07 / S-08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BF47CE-8051-4E33-86EE-5AE31AF9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仪器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D84C243-76A2-4F32-9F24-B677F4C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HPLC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42457A-59B6-49A7-BD57-E3C5339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条件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C83EFD1-3C67-4380-8B32-0FD40164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pH 8.0, 30 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8C37DD-0DA4-4587-83F5-CA053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482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等待期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AC4BED4-631F-4543-B9CB-0883CC17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48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过夜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23755C-2237-40CE-B689-BFAD4E98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4194F5-742C-4570-9AC0-FEA7F1B5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1388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DD2B8-FE9F-4EDE-9AB1-C88CCC70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028831-6EAC-4A4E-835B-7C4D461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CUSTOM DASHBOARD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6EDB4A-C6CF-4767-BD48-6848E5A0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A94AC-9A32-4EAA-9DE9-AB5E5A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首页应像工作台一样可拖拽组合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686B6-9095-439D-A475-A96B174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用户可以保存不同布局：实验密集期、论文冲刺期、生活平衡期。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8A771-E3E0-45AE-ADC8-8753CFC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6F54E-EF1A-4203-BF63-7F83AEA7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42CBD-1F58-4E33-82F9-56354F2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93B7E-7D65-4C92-BB96-E9665FB3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D71E5-0BA0-4776-A8B7-E9116A02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9B82C-8193-4F75-AC5C-DCF84FB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621F8-5D52-4E6E-80BD-5318C69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AA20B-7E94-4E23-ACDD-FEA4C9B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28D9D-B632-40DE-86AC-14A224D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F3F56-C16B-4A73-A004-B91CF2B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87B4A-D48A-4E86-A10A-709DEBFC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8D7EE-21AB-423A-9CD6-77A4B5E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6989C-EF51-4718-B29E-1A23FB67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1EB9A-62B6-4386-9EC7-C138356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AA689-98FB-4E69-9873-8EAD779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F0589-A47E-48E7-A477-78BB35D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11309-FD9B-481A-AFEF-451C33E0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88D02-417E-4ED3-8D8B-7B8B0E6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55677-C234-45EE-93EA-0737F0F1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5CDB1-B78D-46CD-9A94-AF27167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3D2EB-32BB-4D24-9A13-A6E34BD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73EAA-22D2-4D40-998C-C2730E6B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A07F8-54AA-446B-8529-219469C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696B7-7920-44B4-8692-9B66569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2D4A6-847F-41E2-AEC0-0FC8BDA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B031C8-F152-49A6-9F0E-07E9B4E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布局编辑器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C6F7C-61AA-43EE-AA4A-DD55B301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DAFBA-7AC7-4927-84BF-3C618C8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838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保存布局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3519FA-58D5-4F90-A438-1DEF7F2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A"/>
          </a:solidFill>
          <a:ln xmlns:a="http://schemas.openxmlformats.org/drawingml/2006/main" w="9525">
            <a:solidFill>
              <a:srgbClr val="2230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A9866-1565-45B2-9C26-B2EA11CC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预览今天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8F985A-009F-42B6-A8F0-B649A564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5619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1C5FB9-FC87-4F29-B21D-8C95D149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画布：拖拽模块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DCA79-1216-4A5C-B49B-681E704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2362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3B6F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CFBB85-757A-4587-A587-D7DB6078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8F0E48-B387-4F03-AFEA-A91256CC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718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今日时间轴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73D6F4-65B6-40E5-BAB4-655BEEC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E58A3E-0988-4A1F-8C8C-6B3D6456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2CA58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3C7D26-E3D2-43A7-B26F-E825FC2D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94A817-7F06-416D-9BAD-2519997A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项目进度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1182F1-399F-468D-AA56-812ECF3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3850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1B2B66-CD3C-48F8-8012-1ABAA01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D85C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B32981-7DFD-41D2-B147-73623DC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7C090F-7476-41F9-892A-3A3B42F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截止提醒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137112-E1C1-47D6-A94A-DFC48DCC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3111D6-4E48-4193-A3AB-463E47D7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7C6BB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C5759D-4B98-4DAB-8EB0-5B010E46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B9B10E-8B1B-4C26-AE65-179B1930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精力负荷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A39A8-668D-479A-97DA-61B768F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5AACDA-130D-457F-B9F1-AE35DB71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E0A53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C27AC3-8C17-4234-86D1-4FE4995A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7570B4-36CB-4EF1-94C9-D33ED917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家庭生活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A13FE0-E695-4B4B-975A-9A72206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1E1854-5FAB-491B-8EC5-18824DA4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C9D6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70B1AA-1FE6-4B61-B2BD-5EB25E84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3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5A5616-0C27-427B-9819-13F3503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收件箱 / 临时任务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E4F08B-D3B1-44BB-919B-863E7AB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24450"/>
            <a:ext cx="455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可调整大小 / 可隐藏 / 可绑定项目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1C25CA-D920-43A4-BD83-26B352CA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228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4F38FA-695F-45A4-9628-64E5F0A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右侧属性面板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97E5E3-1ECD-4C37-A4EE-322EAAC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标题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209185-83D1-482F-A160-B4516D71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A3DC4B-DFEC-4328-8C09-8D35872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今日时间轴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3F4929-17A6-4F60-AA48-50502B6F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数据源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6BD3D5-A740-4E43-B4E9-03A8C8A0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33725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655D82-759C-4E8A-A4D5-69FE394F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全部任务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29C53B-E5EC-46AE-B02F-1B40D46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显示范围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E112F3-72F5-43C4-A0EA-C2E5E1E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CC92E7-A4AF-48FF-9FB4-C9E0E7B5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5282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今天 + 明天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2D8BEA-E5F2-4F18-901A-9EC9C6BC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颜色规则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70B476-7C45-4A35-8DFA-93A5ED6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76675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2B1E87-1E0F-4D5B-BA43-655D7E96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243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按类别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B5B4CE-B32E-4E6D-9F0A-85A7203F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高度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08A0CC-BFD5-4038-87F0-530F1459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48150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CE373E-EE2A-4485-A1CA-8FA841E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957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2 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50699A-D716-48D8-BAC9-94B18188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7677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提醒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C2E9AE-27C9-4C59-9119-B5AD34C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9625"/>
            <a:ext cx="102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8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D56ED7-4CFF-44C5-83F6-99343916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6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开启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88B402-FF56-4B9B-9BC1-D6645CC0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B070E7-0E07-4F3F-9325-CEE7AB2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2987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C559EF-4ED1-4BA3-95DD-40D1EDD9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F25D33-436C-4E3C-A9EE-396AB76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TASK DETAIL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A57064-2958-4C3C-BD9C-667E73F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046FC-246A-452A-8ADB-415707D3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任务卡片要包含执行所需的上下文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4CF14-63D5-4D39-A4A8-FE8529A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不只写标题，还记录精力、地点、依赖、字段和延期原因。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B5415-38D9-48F0-BDF3-BA5E9C6B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B1A98-74F6-48AF-9A06-1440ED4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A0E43-231D-4AF0-8CA7-1979150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B2D33-96E7-4BB2-A580-8D52181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6E18C-906E-4902-8B7D-1A9E050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A8A23-77EB-4146-86AE-F29F772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78310-D70F-4A40-8EA4-62FA2C5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6B30-9E5D-40E8-A42A-4DCB4FF3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CB774-FDA6-4B3F-A738-C70A88E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58A3A-1B92-44D6-A82C-C6BF04AE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533A5-13B7-4D32-831E-3ACB2EC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CC61B-148B-481A-9213-619DDD0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968DB-77C4-4F1C-82A2-A1FAA68D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31273-2C03-417A-BDBB-63AAF1D9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B6220-372B-423F-A429-E24D891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7AA3D-F672-4BB5-9F5F-CB225AA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49CD0-AF40-464D-A387-CB551DC7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6CFD4-2CAF-42DA-8784-D628C7D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5FBC5-D1B6-4238-ACB8-DE4C3DC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17BA2-48DB-47CD-91FC-36616F6C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E64C0-9492-47A8-9F3A-C6B92A37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FEE29-2D05-4EED-A622-639E50DC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BB4FA-4D40-4F7A-B60E-3E28522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B6387-312A-4D37-9A2A-72588BF4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6B753-CBFD-4A83-967E-CD33BDC1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92E09-40AD-4FBB-BE98-FAF7F40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任务详情抽屉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DE508-0ABB-4697-8A3D-CC5747F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4381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B6870-4748-4087-97E1-B60553E3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主任务：完成结果段落初稿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AE39B1-61C1-4123-9726-C73F26D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D49FE2-85AF-4654-98FD-D45F7173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90825"/>
            <a:ext cx="685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9CB5C-4B2A-4D69-8F53-1598A130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1D08B4-AB08-40E1-B14B-93CCD38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857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高脑力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B54BE-503C-4D8C-8E45-C6987C3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A"/>
          </a:solidFill>
          <a:ln xmlns:a="http://schemas.openxmlformats.org/drawingml/2006/main" w="9525">
            <a:solidFill>
              <a:srgbClr val="2230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D685E-9596-44D7-B2B1-FB00CFD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99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预计 90 分钟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69C218-876E-49A8-9813-B001FD94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766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所属项目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0E1339-488C-4FCC-A5F3-4AFA420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 A / 结果与讨论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C42429-11F8-49FC-93DB-4FE8E01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下一动作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7B2751-AE13-4933-9122-AF4E6A20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写出可给导师讨论的版本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8A59BA-23F9-49CE-ACE2-65DE9E93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依赖关系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6B919-209C-4A94-AB4D-65412CF3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A"/>
          </a:solidFill>
          <a:ln xmlns:a="http://schemas.openxmlformats.org/drawingml/2006/main" w="9525">
            <a:solidFill>
              <a:srgbClr val="C5D7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BC79A-ADFA-4AC1-968A-C4CA616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rPr>
              <a:t>图 2 统计完成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D29A24-7CE7-4634-A904-47D3BF2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671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DD2CDD-AA5A-4E71-84D2-67367E0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B"/>
          </a:solidFill>
          <a:ln xmlns:a="http://schemas.openxmlformats.org/drawingml/2006/main" w="9525">
            <a:solidFill>
              <a:srgbClr val="E8C8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6FEB28-84B0-4F61-8979-F0277726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1002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D85C4A"/>
                </a:solidFill>
                <a:latin typeface="Microsoft YaHei UI"/>
                <a:ea typeface="Microsoft YaHei UI"/>
                <a:cs typeface="Microsoft YaHei UI"/>
              </a:rPr>
              <a:t>共同作者反馈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2CCFFF-8151-415C-935B-E1D6395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完成标准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81CEC0-5B81-49BE-939C-039386C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段落能解释主要趋势，并标出仍需补证据的位置。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D00CDE-296E-467D-9F03-BF1B5EE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3448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0E7B11-2CF4-42E1-804E-4848A05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右侧：可自定义字段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73752D-645B-46E3-B74E-D7DDAED1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截止日期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A77DE0-DAA1-4D6A-9535-4C3E849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0E118A-86C6-4710-AB32-E77BFDF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6 月 10 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42ABCD-E702-4763-BD83-B4EE17C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FF05C8-8868-4E83-97AB-298D54EF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AA865E-979E-423E-BA3F-7BDE3D3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146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办公室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6244F3-F723-41D2-925B-D752ABE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可打断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FC5AC8-D1EE-4A3B-A2D8-CF3942E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6E8293-C287-45E1-AF48-1E5769D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575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C27B94-B061-433F-9DEA-E9A8F87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重复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E7A1BD-B53D-4FD0-B695-FF8F074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528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6E88C4-813F-4F51-9303-978512D8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一次性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646B6B-0FFF-4083-9469-7F0FDF7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延期原因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C250D6-E9D3-42D3-9065-ED2EB34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95240E-5B6B-4054-A3B7-009936C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可选填写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5792EF-76FD-4AEA-BA86-3BF4F2A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关联文件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5CDE2D-A079-459E-A0B1-1BA7596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0DA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8E5F8B-AD00-49F2-AA7B-ED6798F0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862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manuscript_v3.docx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A1E97E-B358-4A94-BA76-D6EEEA6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进度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BFF55B-B587-44A8-B0A4-F9F96D46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1924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A69A5E-9428-4F5E-A932-5928C63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8081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5B3C0D-527C-461D-9C47-32D61C9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91203-8B44-4DB8-BDC1-307C4488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12046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369EA-C217-456F-BB4E-C6911584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C9C967-5E0F-4ED6-9FFA-E3F4501D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REVIEW VIEW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25D6B9-BCA5-4D0E-8AAC-906940B4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ADC71-0C69-47AF-9E8C-AF8C609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复盘页解释偏差，而不是制造自责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9915B-0273-4DC5-84A6-163CE434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每周看完成、延期、负荷和平衡，帮助下周计划更现实。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253C-2DA6-48D6-B1FF-4918965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1B1DA-2BBA-41C5-990A-2B22FA8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E9F5F-24C7-4EF9-B0CF-BFCEB4E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E6BB-19F7-43AF-B0DA-02EDB62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15770-1DBA-435B-BAA6-CCF98CA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5CFE6-2947-4BF3-A47E-425219A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3F1A3-8850-4D93-BDEB-17786D2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2D368-ED76-424F-9909-C066F48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22687-E8CB-4AF5-9E16-615ECCDB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8D273-01D3-40E4-B438-3A46DB6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64EBB-7D87-4A94-82BB-60B03B9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D29A0-0DA1-45B5-ADF7-721570E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53636-9607-490B-B9F8-9B810EE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6BF98-813B-4F20-9AC1-4D146ED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38220-06B0-4F0B-B42C-2F8C77B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5A3B0-A504-43FC-8430-97F0FF4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8FC56-1BB5-45C5-A7C7-B791B9C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1466A-CC75-4C65-AAB6-A13116B2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44523-3746-4207-8DB6-401D4487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1FB99-2F42-435C-87DF-7473574A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7CDDF-AD74-445B-B78D-3988A11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694C51-2B9C-4A7A-A145-98DB899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B317F-5164-4767-8F61-F4DD6FF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7C441-125F-466F-8983-C9D8ADE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84B29-6630-4352-BCBC-70ACF5B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DEB8F-958D-4778-BDE2-D9D324D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本周复盘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F1B69A-9F8A-4ADF-8592-59E52C4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2647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240BC-5827-4DF3-8363-EC356D2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完成情况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D0408-A051-4753-AC0A-067DA1BC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32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完成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D52AE-AA75-4126-9DA9-FE0BE52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81300"/>
            <a:ext cx="1219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B1B95-747D-4B3D-AA63-4804423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81300"/>
            <a:ext cx="82905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15070-DBB2-4C07-915B-F5A84D4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336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68%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AE024E-F1D3-4333-A018-19B0907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延期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A44EDF-CB7C-43C1-9C6F-8798998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86100"/>
            <a:ext cx="1219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D8018-0ED8-48A3-AD53-E4A6778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86100"/>
            <a:ext cx="268224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3210B4-F670-4557-8B1F-5D6CF851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22%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AA29EA-6535-4EFE-AC31-69BE2F4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52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取消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D58D5B-0C68-4268-9EA1-5CFA7248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1219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9525">
            <a:solidFill>
              <a:srgbClr val="ECE8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951E67-5244-45EF-B47B-0BDC1FF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12192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7A"/>
          </a:solidFill>
          <a:ln xmlns:a="http://schemas.openxmlformats.org/drawingml/2006/main" w="9525">
            <a:solidFill>
              <a:srgbClr val="6873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B8A62A-06A2-451E-8B04-6444C4C4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432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9ECB9F-B4EF-496D-A382-16146A8F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3CEF29-DB61-41BF-BE91-847E7FC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延期原因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861ACE-67E4-46BC-9D8E-6B764E7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依赖等待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E15109-34FD-45CB-B7B4-8C89E95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44005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9525">
            <a:solidFill>
              <a:srgbClr val="D85C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EFF3C4-25B7-4D10-8EA2-7426EF8E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估时过短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8E011F-FAB2-4F23-92DE-7B2235D3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29337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0DC56C-E583-4A70-9E6F-9B03B8E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临时事务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ADE672-74A8-4D37-A01A-6DB3141C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09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494FED-E632-4A92-ADD9-A84B07E8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精力不足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9D1FA9-1C82-478D-A5D8-CD8C1B52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1047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5A"/>
          </a:solidFill>
          <a:ln xmlns:a="http://schemas.openxmlformats.org/drawingml/2006/main" w="9525">
            <a:solidFill>
              <a:srgbClr val="77A6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58E006-EFF5-4862-9619-11FD70C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590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5404BC-C882-4CF4-8867-658CEAD1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下周建议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F018CA-6AD5-4349-BF69-1C8E3D7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EA1822-C0C2-4EB3-8F14-5187509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周四实验日前后不要堆写作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1B8A45-4E62-4DBE-9131-38F6208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64122E-4982-4CB1-B05C-5FE5FDA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高脑力任务放上午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2C1F4F-80FC-4259-B047-E802B0C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21D7EC-6499-4710-B67F-67C705D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10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保留 2 个缓冲块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D3479F-ECE3-47BC-966B-B0A069BA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8134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F2A43C-2E0A-4653-8E95-25D0206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719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项目投入趋势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0269E6-34D2-4760-8588-03843B0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0100"/>
            <a:ext cx="11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7B28C6-41AE-488A-BC00-B08EB9E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244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7B968F-DA59-4AC3-ADCB-E34DBA7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2058DE-4222-4362-A061-D49306CF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81500"/>
            <a:ext cx="114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8250C8-519F-4DF8-867A-75E6D4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62475"/>
            <a:ext cx="114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595BF1-CB38-4D7B-AC99-0184C4F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11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DD686C-9F2C-412D-8C1A-0403AF45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67C2E8-1F63-46DC-98A3-9C24D85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3B6FB6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7927AE-2862-4A7E-B54C-8CB4E831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C95588-F64A-4572-95E0-56E2B15B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38700"/>
            <a:ext cx="11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58A1ED-07E9-4C30-AE03-791B85E7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593FFA-D15C-4A16-8D02-3A64309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48200"/>
            <a:ext cx="11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9F2B9A-96D1-423E-A71C-93285B83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FE8186-92E4-468C-B76C-6CD0246B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D2196B-68D6-433D-949F-8EA020B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0600"/>
            <a:ext cx="11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A498A8-4379-4D04-82E9-111DCE3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958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FCEECD-6A06-4011-A640-3B6297E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DBA9912-F312-4C86-B193-29A6428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61C26F2-D740-4DB6-A6C6-A384D13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244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6A466A-A552-457A-9BBD-B49EF6D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815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43D9D2-7EBF-4B60-B225-6BBE017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67250"/>
            <a:ext cx="11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BEDB90-AAC4-465B-88AF-B9E604E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47DA1D-10E8-4350-A598-E53BEFA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C3927E-FF09-40AA-866D-0860E67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69D3AC-5CF1-44C4-8735-13532D9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D306CED-0770-45AA-8EB0-2ACE150C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E0A53A"/>
                </a:solidFill>
                <a:latin typeface="Microsoft YaHei UI"/>
                <a:ea typeface="Microsoft YaHei UI"/>
                <a:cs typeface="Microsoft YaHei UI"/>
              </a:rPr>
              <a:t>家庭/生活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2424B4-01BD-414F-BF57-84A5A08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99E157-ABBB-4B2C-AF33-352A0BD1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7142CE5-1F89-4D7A-8DAA-D385A267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二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1C696A-11B4-4FA8-B5E7-F634941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三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9843E3E-0367-4549-9942-95B6DEF6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四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79CC196-EB1D-431B-A9B6-AB8B56B9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五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09DEBD-C03A-43B5-80B6-9BA7E82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六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A6CCBF-F71C-4F2C-9F62-891DB6D0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76E8DE-597D-4A1D-9D7F-C400BDC4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FCAE8C-C99E-4AB7-A867-D5C03B24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61121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8DAF5-2CFC-4A85-975B-F0D2954A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1D84CB-FC0F-4E49-8109-66EA448A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CA58D"/>
                </a:solidFill>
                <a:latin typeface="Microsoft YaHei UI"/>
                <a:ea typeface="Microsoft YaHei UI"/>
                <a:cs typeface="Microsoft YaHei UI"/>
              </a:rPr>
              <a:t>SETTINGS &amp; TEMPLATES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2F7CC9-E177-4858-9BDB-07629110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5CFD5-402C-4F0C-BA38-F37D8086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2B2F"/>
                </a:solidFill>
                <a:latin typeface="Microsoft YaHei"/>
                <a:ea typeface="Microsoft YaHei"/>
                <a:cs typeface="Microsoft YaHei"/>
              </a:rPr>
              <a:t>自定义要强，但入口必须轻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931A6-0776-4993-9AB4-C55ECED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7A"/>
                </a:solidFill>
                <a:latin typeface="Microsoft YaHei"/>
                <a:ea typeface="Microsoft YaHei"/>
                <a:cs typeface="Microsoft YaHei"/>
              </a:rPr>
              <a:t>用模板降低配置成本：先选择场景，再微调字段、颜色和首页布局。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39355-1C9B-4804-B478-468C237C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489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A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CD72D-7D90-4C91-9ADB-276C8A56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600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619A-AACB-4D28-90FB-FD27488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ResearchOS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64A08-DD4F-447C-8C36-BE6BC5F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C0E23-6478-4EA0-9116-95E4750C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62435-1A96-467F-AC7C-4B4C6058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今日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65E44-341B-47E7-B1FA-FD589165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CCC69-1114-40F6-A436-EF43C0C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7620D-4BF6-4E5F-9831-0E2CBC7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周计划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A5B9B-A7BF-43AC-9DAD-01ABDE0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7784E-093E-431C-A009-25023D0F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D03EF-F361-4D90-A4CC-5F1205F0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AA7A2-AF88-4A7A-A437-2E5A6A41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B8677-7E09-41C2-9297-C064C6BC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2D013-1356-4B1D-AD98-16F1F5E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AE581-83DD-4A26-8D0C-8E252AD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9775F-8D13-4C40-983C-92D417D0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0076F-3AEA-4AB1-83B9-0B5E9B6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074C8-29B4-4285-8E01-6F4BA15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382D7-C093-491B-B415-0A3706C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DAE1B-1AC6-4557-9104-083293F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AAB2B8"/>
                </a:solidFill>
                <a:latin typeface="Microsoft YaHei UI"/>
                <a:ea typeface="Microsoft YaHei UI"/>
                <a:cs typeface="Microsoft YaHei U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89DE7-7402-48D3-A4DD-F2DE5418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3"/>
          </a:solidFill>
          <a:ln xmlns:a="http://schemas.openxmlformats.org/drawingml/2006/main" w="9525">
            <a:solidFill>
              <a:srgbClr val="2E46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F7FA5-9E1C-49A7-8426-BD32391D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D8220-3A7C-42EA-A381-FC4B51D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设置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639FD-B80E-4F65-B819-44E452D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904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8E3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25C216-040F-4BD4-8429-7781BB41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设置与模板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4145E0-3C64-42C2-8830-9F1AB51B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3752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CC7F6-9978-443F-9B67-99CB5DC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38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任务类型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43887C-4796-4239-B66F-2800BD80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AC5D0-9301-4074-BD3C-8503C00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F6496-2828-4F75-BA4F-4A25117B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D6437-A252-4E25-8C9A-FA6101FA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00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02C12F-2C84-47A1-B8D8-F86A20E8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47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实验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AAE3B-2F64-4FD3-9F99-EC21022A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DEDB28-25F8-4E7E-9996-6E0E320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718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文献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2F1F80-6100-49A1-9373-6E4FDCF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7B3755-6177-4BEB-8178-85B985F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数据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5DF056-DC62-4EBF-A4B5-FBFA4857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3752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A1E3FB-9151-4680-A320-A58A0FE8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字段模板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B12CC0-D826-48DC-9042-D6FA2D65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C7E7CC-C028-4E94-A41D-8F76B4A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FA406B-DE74-405F-B8BC-0D89E1B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实验：样品/仪器/等待期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479BB9-70BC-468A-93C1-277C679D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2602AA-5495-4491-AD5C-9A6A6A13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47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论文：章节/图表/版本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509E8A-1535-44F5-98D3-7CB3B86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BF7DB5-45E2-429C-BEA8-9498063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718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学习：课程/练习/应用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AD7AD7-9F15-4388-8B03-7CBBAA5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3752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804B6A-EA12-4894-8B7C-D622174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视图模板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8F826D-A16F-4766-BD48-4F36B004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BB0"/>
          </a:solidFill>
          <a:ln xmlns:a="http://schemas.openxmlformats.org/drawingml/2006/main" w="9525">
            <a:solidFill>
              <a:srgbClr val="7C6BB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2DD6C6-BF51-4710-8B42-E42FEAE7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E45E48-8BAA-4C85-97A3-60D066F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291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今日执行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BD4432-4288-4126-8FA9-38BB97E2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81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17CC42-DB7A-4623-AB98-126DB056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论文冲刺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8675E0-C7A5-4AA2-9E20-20E3CB94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BE46D2-0D72-4626-BF25-3416E4E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52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实验周期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E2F562-4FB1-45F0-8025-9EC95292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DE95E1-E6B2-4C2B-AB4F-7BEA8D18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52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周复盘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D3C4B3-7AF0-4F99-8260-38D20877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3752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594ECE-D8D6-4B50-A518-B7F4DC6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规则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A8B27F-B3E1-4D83-9325-B52F40A5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9525">
            <a:solidFill>
              <a:srgbClr val="E0A5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DF75E7-C9AF-430B-8856-2174E7F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7286E7-ABEE-4BC2-9538-1D0C9939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高脑力优先上午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46C9DA-CD67-42DA-A9D6-82E3889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A4C069-62E6-4F19-BD5D-8501E53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2912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家庭时间默认保护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07AAAC-FC72-4F9B-886A-DE2DC4C0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1DB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64C1BA-B4AC-48CA-88D0-EB3AE25E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05" b="0">
                <a:solidFill>
                  <a:srgbClr val="1E2B2F"/>
                </a:solidFill>
                <a:latin typeface="Microsoft YaHei UI"/>
                <a:ea typeface="Microsoft YaHei UI"/>
                <a:cs typeface="Microsoft YaHei UI"/>
              </a:rPr>
              <a:t>延期必须可解释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53C3CB-7653-437B-977B-20A14B0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92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4D0D76-B466-4C65-B195-8DE7559F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05475"/>
            <a:ext cx="542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8737A"/>
                </a:solidFill>
                <a:latin typeface="Microsoft YaHei UI"/>
                <a:ea typeface="Microsoft YaHei UI"/>
                <a:cs typeface="Microsoft YaHei UI"/>
              </a:rPr>
              <a:t>第一版建议：先做本地数据、可拖拽首页、日/周/项目/复盘四个视图，再加自动规划。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30C344-5073-429D-BA9D-3E5A5AC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673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58D"/>
          </a:solidFill>
          <a:ln xmlns:a="http://schemas.openxmlformats.org/drawingml/2006/main" w="9525">
            <a:solidFill>
              <a:srgbClr val="2CA58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8C713F-B88A-46FD-8F30-19BC33B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76900"/>
            <a:ext cx="819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MVP 优先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CF09DA-3598-4867-83D0-F2AE6E9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科研日程可视化软件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CE1D29-BC01-497A-8ECD-F52AA46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8D8A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9375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2026-06-08T00:04:21.2640000Z</dcterms:created>
  <dcterms:modified xsi:type="dcterms:W3CDTF">2026-06-08T00:04:21.2640000Z</dcterms:modified>
</coreProperties>
</file>